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993392"/>
            <a:ext cx="1463040" cy="6400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6EC6C5"/>
                </a:solidFill>
                <a:latin typeface="Calibri"/>
              </a:rPr>
              <a:t>WEEK 8 · DAY 1  ·  APPLIED RAG ENGINEERING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RAG Evaluation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DCF0EF"/>
                </a:solidFill>
                <a:latin typeface="Calibri"/>
              </a:rPr>
              <a:t>Evaluating RAG Systems with RAGAS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9DB2C9"/>
                </a:solidFill>
                <a:latin typeface="Calibri"/>
              </a:rPr>
              <a:t>Manual evaluation of Faithfulness and Context 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EnlivenAI Solutions   ·   September 2026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9DB2C9"/>
                </a:solidFill>
                <a:latin typeface="Calibri"/>
              </a:rPr>
              <a:t>Faithfulness  ·  Context Precision  ·  RAGAS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What this session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RAG Evaluation Project · Week 8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3035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B2A4A"/>
                </a:solidFill>
                <a:latin typeface="Calibri"/>
              </a:rPr>
              <a:t>Why RAG evaluation matters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 — runs ≠ reliable, root cause, controlled experiments</a:t>
            </a:r>
          </a:p>
          <a:p>
            <a:pPr algn="l">
              <a:spcAft>
                <a:spcPts val="18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B2A4A"/>
                </a:solidFill>
                <a:latin typeface="Calibri"/>
              </a:rPr>
              <a:t>Two core metrics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 — Faithfulness and Context Precision</a:t>
            </a:r>
          </a:p>
          <a:p>
            <a:pPr algn="l">
              <a:spcAft>
                <a:spcPts val="18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B2A4A"/>
                </a:solidFill>
                <a:latin typeface="Calibri"/>
              </a:rPr>
              <a:t>Project structure &amp; dataset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 — 6 test examples, files and outputs</a:t>
            </a:r>
          </a:p>
          <a:p>
            <a:pPr algn="l">
              <a:spcAft>
                <a:spcPts val="18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B2A4A"/>
                </a:solidFill>
                <a:latin typeface="Calibri"/>
              </a:rPr>
              <a:t>How the evaluation runs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 — the manual scoring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120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B2A4A"/>
                </a:solidFill>
                <a:latin typeface="Calibri"/>
              </a:rPr>
              <a:t>Score interpretation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 — the 0.0–1.0 rubric</a:t>
            </a:r>
          </a:p>
          <a:p>
            <a:pPr algn="l">
              <a:spcAft>
                <a:spcPts val="18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B2A4A"/>
                </a:solidFill>
                <a:latin typeface="Calibri"/>
              </a:rPr>
              <a:t>Improvement strategies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 — prompts, retriever, chunking</a:t>
            </a:r>
          </a:p>
          <a:p>
            <a:pPr algn="l">
              <a:spcAft>
                <a:spcPts val="18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B2A4A"/>
                </a:solidFill>
                <a:latin typeface="Calibri"/>
              </a:rPr>
              <a:t>Manual vs RAGAS automation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 — when to use each</a:t>
            </a:r>
          </a:p>
          <a:p>
            <a:pPr algn="l">
              <a:spcAft>
                <a:spcPts val="18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B2A4A"/>
                </a:solidFill>
                <a:latin typeface="Calibri"/>
              </a:rPr>
              <a:t>Key takeaways &amp; next steps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 — and references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623560"/>
            <a:ext cx="10515600" cy="566928"/>
          </a:xfrm>
          <a:prstGeom prst="roundRect">
            <a:avLst>
              <a:gd name="adj" fmla="val 8000"/>
            </a:avLst>
          </a:prstGeom>
          <a:solidFill>
            <a:srgbClr val="DC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70585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Calibri"/>
              </a:rPr>
              <a:t>Core question: Did the system retrieve the right information, and did the answer use that information correctly?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The RAG workflow — and where evaluation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RAG Evaluation Project · Week 8 Day 1</a:t>
            </a:r>
          </a:p>
        </p:txBody>
      </p:sp>
      <p:pic>
        <p:nvPicPr>
          <p:cNvPr id="7" name="Picture 6" descr="ra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10698480" cy="297273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4892040"/>
            <a:ext cx="10515600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0292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The key evaluation question:</a:t>
            </a:r>
            <a:r>
              <a:rPr sz="1600" b="0" i="0">
                <a:solidFill>
                  <a:srgbClr val="475569"/>
                </a:solidFill>
                <a:latin typeface="Calibri"/>
              </a:rPr>
              <a:t>  Did the system retrieve the right information, and did the answer use that information correctly?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475569"/>
                </a:solidFill>
                <a:latin typeface="Calibri"/>
              </a:rPr>
              <a:t>A RAG system follows the pipeline above — evaluation checks both sides: retrieval quality (Context Precision) and answer quality (Faithfulness).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Why RAG evaluation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RAG Evaluation Project · Week 8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3319272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37360"/>
            <a:ext cx="3319272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7C7B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Runs ≠ Reliable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2880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Calibri"/>
              </a:rPr>
              <a:t>A RAG app can execute without errors and still return weak, incomplete, or unsupported answers.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37360"/>
            <a:ext cx="3319272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37360"/>
            <a:ext cx="3319272" cy="12801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01168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7432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Finds Root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291840"/>
            <a:ext cx="2880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Calibri"/>
              </a:rPr>
              <a:t>Evaluation separates retrieval problems from answer-generation problems — so you fix the right component.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737360"/>
            <a:ext cx="3319272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737360"/>
            <a:ext cx="3319272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201168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E7C7B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7432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Controls 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3291840"/>
            <a:ext cx="2880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Calibri"/>
              </a:rPr>
              <a:t>Changing one setting (chunk size, top-k, prompt) may improve one score while weakening another.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440680"/>
            <a:ext cx="10515600" cy="77724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55955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Calibri"/>
              </a:rPr>
              <a:t>Rule of the day: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change only ONE setting at a time and keep questions + documents the same.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METRIC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Faithfulness — does the answer stay within the evidence?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RAG Evaluation Project · Week 8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8521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Question: 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Is every important claim supported by the retrieved context?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1B2A4A"/>
                </a:solidFill>
                <a:latin typeface="Calibri"/>
              </a:rPr>
              <a:t>Measures: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whether the answer stays within the evidence.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1B2A4A"/>
                </a:solidFill>
                <a:latin typeface="Calibri"/>
              </a:rPr>
              <a:t>Detects: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LLM hallucinations, unsupported claims, information drift.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49039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DC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913632"/>
            <a:ext cx="5486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score = supported claims / total claims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475569"/>
                </a:solidFill>
                <a:latin typeface="Calibri"/>
              </a:rPr>
              <a:t>Count claims in the answer; count how many the contexts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554480"/>
            <a:ext cx="44348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71907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WORKED EXAMPLE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2103120"/>
            <a:ext cx="3977639" cy="1737360"/>
          </a:xfrm>
          <a:prstGeom prst="roundRect">
            <a:avLst>
              <a:gd name="adj" fmla="val 8000"/>
            </a:avLst>
          </a:prstGeom>
          <a:solidFill>
            <a:srgbClr val="0F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176272"/>
            <a:ext cx="37033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7E4F5"/>
                </a:solidFill>
                <a:latin typeface="Consolas"/>
              </a:rPr>
              <a:t>Context: "Employees receive 20</a:t>
            </a:r>
          </a:p>
          <a:p>
            <a:r>
              <a:rPr sz="1100">
                <a:solidFill>
                  <a:srgbClr val="D7E4F5"/>
                </a:solidFill>
                <a:latin typeface="Consolas"/>
              </a:rPr>
              <a:t>annual leave days."</a:t>
            </a:r>
          </a:p>
          <a:p>
            <a:r>
              <a:rPr sz="1100">
                <a:solidFill>
                  <a:srgbClr val="D7E4F5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D7E4F5"/>
                </a:solidFill>
                <a:latin typeface="Consolas"/>
              </a:rPr>
              <a:t>Answer: "Employees receive 20</a:t>
            </a:r>
          </a:p>
          <a:p>
            <a:r>
              <a:rPr sz="1100">
                <a:solidFill>
                  <a:srgbClr val="D7E4F5"/>
                </a:solidFill>
                <a:latin typeface="Consolas"/>
              </a:rPr>
              <a:t>days and a travel allowance."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3977639"/>
            <a:ext cx="4023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DC2626"/>
                </a:solidFill>
                <a:latin typeface="Calibri"/>
              </a:rPr>
              <a:t>✖  “travel allowance” is unsupported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→ lower faithfulness.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029200"/>
            <a:ext cx="1056132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157216"/>
            <a:ext cx="10149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How to score it in this project: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read the answer and contexts → count the total claims in the answer → count claims supported by the contexts → enter both numbers; the evaluator computes supported / total.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475569"/>
                </a:solidFill>
                <a:latin typeface="Calibri"/>
              </a:rPr>
              <a:t>Score 2/2 = 1.0 (faithful) · a missing, added, or altered detail lowers the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METRIC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Context Precision — how much retrieved context is useful?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RAG Evaluation Project · Week 8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8521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Question: 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How much of the retrieved context is actually useful?</a:t>
            </a:r>
          </a:p>
          <a:p>
            <a:pPr algn="l">
              <a:spcBef>
                <a:spcPts val="800"/>
              </a:spcBef>
            </a:pPr>
            <a:r>
              <a:rPr sz="1400" b="1" i="0">
                <a:solidFill>
                  <a:srgbClr val="1B2A4A"/>
                </a:solidFill>
                <a:latin typeface="Calibri"/>
              </a:rPr>
              <a:t>Measures: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the quality and relevance of retrieval.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1B2A4A"/>
                </a:solidFill>
                <a:latin typeface="Calibri"/>
              </a:rPr>
              <a:t>Detects: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retriever noise, irrelevant results, over-fetching.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49039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DC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913632"/>
            <a:ext cx="5486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score = useful chunks / total chunks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475569"/>
                </a:solidFill>
                <a:latin typeface="Calibri"/>
              </a:rPr>
              <a:t>Count retrieved chunks; count how many help answer the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554480"/>
            <a:ext cx="44348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71907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WORKED EXAMPLE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2103120"/>
            <a:ext cx="3977639" cy="1737360"/>
          </a:xfrm>
          <a:prstGeom prst="roundRect">
            <a:avLst>
              <a:gd name="adj" fmla="val 8000"/>
            </a:avLst>
          </a:prstGeom>
          <a:solidFill>
            <a:srgbClr val="0F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176272"/>
            <a:ext cx="37033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7E4F5"/>
                </a:solidFill>
                <a:latin typeface="Consolas"/>
              </a:rPr>
              <a:t>Question: "What is the remote</a:t>
            </a:r>
          </a:p>
          <a:p>
            <a:r>
              <a:rPr sz="1100">
                <a:solidFill>
                  <a:srgbClr val="D7E4F5"/>
                </a:solidFill>
                <a:latin typeface="Consolas"/>
              </a:rPr>
              <a:t>work policy?"</a:t>
            </a:r>
          </a:p>
          <a:p>
            <a:r>
              <a:rPr sz="1100">
                <a:solidFill>
                  <a:srgbClr val="D7E4F5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D7E4F5"/>
                </a:solidFill>
                <a:latin typeface="Consolas"/>
              </a:rPr>
              <a:t>Retrieved 5 chunks — only 3</a:t>
            </a:r>
          </a:p>
          <a:p>
            <a:r>
              <a:rPr sz="1100">
                <a:solidFill>
                  <a:srgbClr val="D7E4F5"/>
                </a:solidFill>
                <a:latin typeface="Consolas"/>
              </a:rPr>
              <a:t>are relevant.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3977639"/>
            <a:ext cx="4023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0E7C7B"/>
                </a:solidFill>
                <a:latin typeface="Calibri"/>
              </a:rPr>
              <a:t>precision = 3/5 = 0.60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— moderate: some noise in retrieval.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029200"/>
            <a:ext cx="1056132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157216"/>
            <a:ext cx="10149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How to score it in this project: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read the question and all retrieved chunks → count total chunks → count chunks genuinely useful for answering (not just topically related) → the evaluator computes useful / total.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475569"/>
                </a:solidFill>
                <a:latin typeface="Calibri"/>
              </a:rPr>
              <a:t>E.g. medical + dental useful out of 4 retrieved (gym, vacation too) → 2/4 = 0.50.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RETRIEVAL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Context Precision + Recall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RAG Evaluation Project · Week 8 Day 1</a:t>
            </a:r>
          </a:p>
        </p:txBody>
      </p:sp>
      <p:pic>
        <p:nvPicPr>
          <p:cNvPr id="7" name="Picture 6" descr="precision_recall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45920"/>
            <a:ext cx="6035040" cy="38972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1783080"/>
            <a:ext cx="42976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Read the quadrants:</a:t>
            </a:r>
          </a:p>
          <a:p>
            <a:pPr algn="l">
              <a:spcBef>
                <a:spcPts val="1000"/>
              </a:spcBef>
            </a:pPr>
            <a:r>
              <a:rPr sz="1350" b="1" i="0">
                <a:solidFill>
                  <a:srgbClr val="059669"/>
                </a:solidFill>
                <a:latin typeface="Calibri"/>
              </a:rPr>
              <a:t>High Precision + High Recall — 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the best state: useful chunks and complete evidence.</a:t>
            </a:r>
          </a:p>
          <a:p>
            <a:pPr algn="l">
              <a:spcBef>
                <a:spcPts val="800"/>
              </a:spcBef>
            </a:pPr>
            <a:r>
              <a:rPr sz="1350" b="1" i="0">
                <a:solidFill>
                  <a:srgbClr val="D97706"/>
                </a:solidFill>
                <a:latin typeface="Calibri"/>
              </a:rPr>
              <a:t>High Precision + Low Recall — 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useful chunks, but key evidence is missing.</a:t>
            </a:r>
          </a:p>
          <a:p>
            <a:pPr algn="l">
              <a:spcBef>
                <a:spcPts val="800"/>
              </a:spcBef>
            </a:pPr>
            <a:r>
              <a:rPr sz="1350" b="1" i="0">
                <a:solidFill>
                  <a:srgbClr val="D97706"/>
                </a:solidFill>
                <a:latin typeface="Calibri"/>
              </a:rPr>
              <a:t>Low Precision + High Recall — 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important evidence present, but too much noise.</a:t>
            </a:r>
          </a:p>
          <a:p>
            <a:pPr algn="l">
              <a:spcBef>
                <a:spcPts val="800"/>
              </a:spcBef>
            </a:pPr>
            <a:r>
              <a:rPr sz="1350" b="1" i="0">
                <a:solidFill>
                  <a:srgbClr val="DC2626"/>
                </a:solidFill>
                <a:latin typeface="Calibri"/>
              </a:rPr>
              <a:t>Low Precision + Low Recall — 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needs major improvement.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806440"/>
            <a:ext cx="10561320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888736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Calibri"/>
              </a:rPr>
              <a:t>This project measures precision directly;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recall is diagnosed from missing evidence —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 low recall fixes live in chunking, query expansion, and coverage.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Project structure — files and their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RAG Evaluation Project · Week 8 Day 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91640"/>
          <a:ext cx="10561320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54380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anchor="ctr" marL="73152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 marL="73152" marR="54864" marT="18288" marB="18288">
                    <a:solidFill>
                      <a:srgbClr val="1B2A4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B2A4A"/>
                          </a:solidFill>
                          <a:latin typeface="Calibri"/>
                        </a:rPr>
                        <a:t>main.py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75569"/>
                          </a:solidFill>
                          <a:latin typeface="Calibri"/>
                        </a:rPr>
                        <a:t>Orchestration: welcome, loads evaluation_data.json, loops over examples, summary, saves outputs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B2A4A"/>
                          </a:solidFill>
                          <a:latin typeface="Calibri"/>
                        </a:rPr>
                        <a:t>manual_evaluation.py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75569"/>
                          </a:solidFill>
                          <a:latin typeface="Calibri"/>
                        </a:rPr>
                        <a:t>ManualEvaluator: claim counting (Faithfulness) and useful-chunk counting (Context Precision)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B2A4A"/>
                          </a:solidFill>
                          <a:latin typeface="Calibri"/>
                        </a:rPr>
                        <a:t>evaluation_data.json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75569"/>
                          </a:solidFill>
                          <a:latin typeface="Calibri"/>
                        </a:rPr>
                        <a:t>Test dataset — 6 examples: question, answer, contexts, ground_truth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B2A4A"/>
                          </a:solidFill>
                          <a:latin typeface="Calibri"/>
                        </a:rPr>
                        <a:t>results/evaluation_report.csv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75569"/>
                          </a:solidFill>
                          <a:latin typeface="Calibri"/>
                        </a:rPr>
                        <a:t>Generated: per-example score breakdown (11 columns, e.g. supported/unsupported claims)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B2A4A"/>
                          </a:solidFill>
                          <a:latin typeface="Calibri"/>
                        </a:rPr>
                        <a:t>results/improvement_report.json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75569"/>
                          </a:solidFill>
                          <a:latin typeface="Calibri"/>
                        </a:rPr>
                        <a:t>Generated: averages, weakest metric, one improvement recommendation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B2A4A"/>
                          </a:solidFill>
                          <a:latin typeface="Calibri"/>
                        </a:rPr>
                        <a:t>requirements.txt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75569"/>
                          </a:solidFill>
                          <a:latin typeface="Calibri"/>
                        </a:rPr>
                        <a:t>Core: python-dotenv==1.0.0 · Optional: ragas==0.1.12, langchain==0.1.0, anthropic==0.7.0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B2A4A"/>
                          </a:solidFill>
                          <a:latin typeface="Calibri"/>
                        </a:rPr>
                        <a:t>.env.example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475569"/>
                          </a:solidFill>
                          <a:latin typeface="Calibri"/>
                        </a:rPr>
                        <a:t>Environment template: ANTHROPIC_API_KEY, OPENAI_API_KEY, EVALUATION_MODEL, EMBEDDING_MODEL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60807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E7C7B"/>
                </a:solidFill>
                <a:latin typeface="Calibri"/>
              </a:rPr>
              <a:t>Run it:  pip install -r requirements.txt  →  python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The 6-example test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RAG Evaluation Project · Week 8 Day 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1056132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148840"/>
                <a:gridCol w="4297680"/>
                <a:gridCol w="868680"/>
                <a:gridCol w="278892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73152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 marL="73152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facts in the answer</a:t>
                      </a:r>
                    </a:p>
                  </a:txBody>
                  <a:tcPr anchor="ctr" marL="73152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Chunks</a:t>
                      </a:r>
                    </a:p>
                  </a:txBody>
                  <a:tcPr anchor="ctr" marL="73152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Ground truth</a:t>
                      </a:r>
                    </a:p>
                  </a:txBody>
                  <a:tcPr anchor="ctr" marL="73152" marR="54864" marT="18288" marB="18288"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Annual leave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20 annual leave days per year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20 paid annual leave days per year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Remote work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3 days remote per week; 2 days required in office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3 days remote, 2 days office required per week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Health insurance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Medical, dental, vision + mental health; 80% employee / 50% dependent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80% employee, 50% dependent coverage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Performance reviews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Twice a year — June and December (+ onboarding nuance)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Mid-year June, year-end December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Parental leave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12 weeks paid for both parents; unpaid up to 6 months total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12 weeks paid parental leave, both parents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Professional development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$2,500 annual budget — courses, conferences, certifications, training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Calibri"/>
                        </a:rPr>
                        <a:t>$2,500 annual budget per employee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5440680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41264"/>
            <a:ext cx="10149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  <a:latin typeface="Calibri"/>
              </a:rPr>
              <a:t>Evaluator’s watch-out: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example 3’s answer mentions </a:t>
            </a:r>
            <a:r>
              <a:rPr sz="1250" b="1" i="0">
                <a:solidFill>
                  <a:srgbClr val="475569"/>
                </a:solidFill>
                <a:latin typeface="Calibri"/>
              </a:rPr>
              <a:t>mental health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 while its contexts list only medical, dental and vision — a claim-support nuance you must catch when counting supported claims.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475569"/>
                </a:solidFill>
                <a:latin typeface="Calibri"/>
              </a:rPr>
              <a:t>Each example carries four fields: question, answer, contexts (retrieved chunks), ground_truth.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How the evaluation runs —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RAG Evaluation Project · Week 8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566928" cy="96012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9280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737360"/>
            <a:ext cx="4343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Calibri"/>
              </a:rPr>
              <a:t>Install &amp; launch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475569"/>
                </a:solidFill>
                <a:latin typeface="Calibri"/>
              </a:rPr>
              <a:t>pip install -r requirements.txt → python main.py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66928" cy="96012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9280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1737360"/>
            <a:ext cx="4343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Calibri"/>
              </a:rPr>
              <a:t>Load dataset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475569"/>
                </a:solidFill>
                <a:latin typeface="Calibri"/>
              </a:rPr>
              <a:t>Script loads the 6 evaluation examples from evaluation_data.json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761488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2761488"/>
            <a:ext cx="566928" cy="96012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0837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2852928"/>
            <a:ext cx="4343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Calibri"/>
              </a:rPr>
              <a:t>Score faithfulness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475569"/>
                </a:solidFill>
                <a:latin typeface="Calibri"/>
              </a:rPr>
              <a:t>Count total claims → count supported claims → supported / total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61488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761488"/>
            <a:ext cx="566928" cy="96012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00837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852928"/>
            <a:ext cx="4343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Calibri"/>
              </a:rPr>
              <a:t>Score precision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475569"/>
                </a:solidFill>
                <a:latin typeface="Calibri"/>
              </a:rPr>
              <a:t>Count total chunks → count useful chunks → useful / total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877056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3877056"/>
            <a:ext cx="566928" cy="96012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2394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968496"/>
            <a:ext cx="4343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Calibri"/>
              </a:rPr>
              <a:t>Summarize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475569"/>
                </a:solidFill>
                <a:latin typeface="Calibri"/>
              </a:rPr>
              <a:t>Averages, per-example table, weakest metric identified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877056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0" y="3877056"/>
            <a:ext cx="566928" cy="96012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12394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968496"/>
            <a:ext cx="4343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Calibri"/>
              </a:rPr>
              <a:t>Save &amp; recommend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475569"/>
                </a:solidFill>
                <a:latin typeface="Calibri"/>
              </a:rPr>
              <a:t>Write CSV, enter ONE recommendation, write improvement_report.json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120640"/>
            <a:ext cx="10561320" cy="1280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212080"/>
            <a:ext cx="10149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improvement_report.json fields: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total_examples_evaluated · average_faithfulness_score · average_context_precision_score · weakest_metric · weakest_metric_score · improvement_recommendation</a:t>
            </a:r>
          </a:p>
          <a:p>
            <a:pPr algn="l">
              <a:spcBef>
                <a:spcPts val="500"/>
              </a:spcBef>
            </a:pPr>
            <a:r>
              <a:rPr sz="1250" b="1" i="0">
                <a:solidFill>
                  <a:srgbClr val="1B2A4A"/>
                </a:solidFill>
                <a:latin typeface="Calibri"/>
              </a:rPr>
              <a:t>evaluation_report.csv columns: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Example, Question, Ground Truth, Faithfulness Score, Total/Supported/Unsupported Claims, Context Precision Score, Total/Useful/Irrelevant Chunks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Score rubric — both metrics, 0.0 to 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RAG Evaluation Project · Week 8 Day 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00200"/>
          <a:ext cx="105613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70832"/>
                <a:gridCol w="436168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Band</a:t>
                      </a:r>
                    </a:p>
                  </a:txBody>
                  <a:tcPr anchor="ctr" marL="73152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Faithfulness</a:t>
                      </a:r>
                    </a:p>
                  </a:txBody>
                  <a:tcPr anchor="ctr" marL="73152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Context Precision</a:t>
                      </a:r>
                    </a:p>
                  </a:txBody>
                  <a:tcPr anchor="ctr" marL="73152" marR="54864" marT="18288" marB="18288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A4A"/>
                          </a:solidFill>
                          <a:latin typeface="Calibri"/>
                        </a:rPr>
                        <a:t>0.0–0.3  Poor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Calibri"/>
                        </a:rPr>
                        <a:t>Frequent unsupported claims — LLM hallucinating; prompt adjustment needed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Calibri"/>
                        </a:rPr>
                        <a:t>Mostly irrelevant chunks — search not working; major tuning needed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A4A"/>
                          </a:solidFill>
                          <a:latin typeface="Calibri"/>
                        </a:rPr>
                        <a:t>0.4–0.6  Fair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Calibri"/>
                        </a:rPr>
                        <a:t>Mix of supported / unsupported — prompt review needed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Calibri"/>
                        </a:rPr>
                        <a:t>Mixed results, significant noise — retriever needs adjustment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A4A"/>
                          </a:solidFill>
                          <a:latin typeface="Calibri"/>
                        </a:rPr>
                        <a:t>0.7–0.85  Good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Calibri"/>
                        </a:rPr>
                        <a:t>Most claims supported — room to improve prompt specificity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Calibri"/>
                        </a:rPr>
                        <a:t>Most chunks relevant — good foundation, optimize further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A4A"/>
                          </a:solidFill>
                          <a:latin typeface="Calibri"/>
                        </a:rPr>
                        <a:t>0.9–1.0  Excellent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Calibri"/>
                        </a:rPr>
                        <a:t>All claims stay within evidence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Calibri"/>
                        </a:rPr>
                        <a:t>Retriever highly accurate — minimal noise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Calibri"/>
              </a:rPr>
              <a:t>Score pattern → first thing to inspect:   </a:t>
            </a:r>
            <a:r>
              <a:rPr sz="1350" b="0" i="0">
                <a:solidFill>
                  <a:srgbClr val="475569"/>
                </a:solidFill>
                <a:latin typeface="Calibri"/>
              </a:rPr>
              <a:t>Low Faithfulness → prompt + generated answer   ·   Low Precision → retriever, top-k, filters   ·   Low Recall → chunking, query expansion,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486400"/>
            <a:ext cx="10561320" cy="685800"/>
          </a:xfrm>
          <a:prstGeom prst="roundRect">
            <a:avLst>
              <a:gd name="adj" fmla="val 8000"/>
            </a:avLst>
          </a:prstGeom>
          <a:solidFill>
            <a:srgbClr val="DC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614416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Calibri"/>
              </a:rPr>
              <a:t>Golden rule:  </a:t>
            </a:r>
            <a:r>
              <a:rPr sz="1400" b="0" i="0">
                <a:solidFill>
                  <a:srgbClr val="1B2A4A"/>
                </a:solidFill>
                <a:latin typeface="Calibri"/>
              </a:rPr>
              <a:t>change only ONE setting at a time and keep questions + documents the same.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IMPROVEMENT ·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If faithfulness is low (&lt; 0.7) — fix the LLM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RAG Evaluation Project · Week 8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60350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73352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1 · Constrain the prompt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475569"/>
                </a:solidFill>
                <a:latin typeface="Calibri"/>
              </a:rPr>
              <a:t>Answer ONLY from the provided context; if it’s not there, say “The provided context does not contain this information.”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70048"/>
            <a:ext cx="60350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2 · Ground the rules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475569"/>
                </a:solidFill>
                <a:latin typeface="Calibri"/>
              </a:rPr>
              <a:t>1 only use the context · 2 no own knowledge · 3 state missing info clearly · 4 cite which part supports the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9896"/>
            <a:ext cx="60350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13048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3 · temperature = 0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475569"/>
                </a:solidFill>
                <a:latin typeface="Calibri"/>
              </a:rPr>
              <a:t>Deterministic output — best for factual RAG answers; high randomness is not good for RAG.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09744"/>
            <a:ext cx="60350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82896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4 · Chain-of-thought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475569"/>
                </a:solidFill>
                <a:latin typeface="Calibri"/>
              </a:rPr>
              <a:t>Step 1 search the context → Step 2 extract only directly-answering facts → Step 3 answer with citations.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600200"/>
            <a:ext cx="4251960" cy="2377440"/>
          </a:xfrm>
          <a:prstGeom prst="roundRect">
            <a:avLst>
              <a:gd name="adj" fmla="val 8000"/>
            </a:avLst>
          </a:prstGeom>
          <a:solidFill>
            <a:srgbClr val="0F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673352"/>
            <a:ext cx="3977640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D7E4F5"/>
                </a:solidFill>
                <a:latin typeface="Consolas"/>
              </a:rPr>
              <a:t>prompt = """Answer the user's</a:t>
            </a:r>
          </a:p>
          <a:p>
            <a:r>
              <a:rPr sz="1050">
                <a:solidFill>
                  <a:srgbClr val="D7E4F5"/>
                </a:solidFill>
                <a:latin typeface="Consolas"/>
              </a:rPr>
              <a:t>question ONLY using the provided</a:t>
            </a:r>
          </a:p>
          <a:p>
            <a:r>
              <a:rPr sz="1050">
                <a:solidFill>
                  <a:srgbClr val="D7E4F5"/>
                </a:solidFill>
                <a:latin typeface="Consolas"/>
              </a:rPr>
              <a:t>context. If the context doesn't</a:t>
            </a:r>
          </a:p>
          <a:p>
            <a:r>
              <a:rPr sz="1050">
                <a:solidFill>
                  <a:srgbClr val="D7E4F5"/>
                </a:solidFill>
                <a:latin typeface="Consolas"/>
              </a:rPr>
              <a:t>contain the answer, say </a:t>
            </a:r>
          </a:p>
          <a:p>
            <a:r>
              <a:rPr sz="1050">
                <a:solidFill>
                  <a:srgbClr val="D7E4F5"/>
                </a:solidFill>
                <a:latin typeface="Consolas"/>
              </a:rPr>
              <a:t>'The provided context does not</a:t>
            </a:r>
          </a:p>
          <a:p>
            <a:r>
              <a:rPr sz="1050">
                <a:solidFill>
                  <a:srgbClr val="D7E4F5"/>
                </a:solidFill>
                <a:latin typeface="Consolas"/>
              </a:rPr>
              <a:t>contain this information.'</a:t>
            </a:r>
          </a:p>
          <a:p>
            <a:r>
              <a:rPr sz="1050">
                <a:solidFill>
                  <a:srgbClr val="D7E4F5"/>
                </a:solidFill>
                <a:latin typeface="Consolas"/>
              </a:rPr>
              <a:t>Do not use any external</a:t>
            </a:r>
          </a:p>
          <a:p>
            <a:r>
              <a:rPr sz="1050">
                <a:solidFill>
                  <a:srgbClr val="D7E4F5"/>
                </a:solidFill>
                <a:latin typeface="Consolas"/>
              </a:rPr>
              <a:t>knowledge or make assumptions."""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160520"/>
            <a:ext cx="4251960" cy="1920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4297680"/>
            <a:ext cx="3931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WHY IT WORKS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475569"/>
                </a:solidFill>
                <a:latin typeface="Calibri"/>
              </a:rPr>
              <a:t>The failure mode is the LLM adding plausible-sounding details (like the “travel allowance”) that no chunk supports. Constraints + deterministic decoding + citations pull every claim back onto the retrieved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Target: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move the score into 0.7–0.85 (Good) or higher — 0.9–1.0 means every claim is supported.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IMPROVEMENT ·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If precision or recall is low (&lt; 0.7) — fix the retriever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RAG Evaluation Project · Week 8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5166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5166360" cy="4572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LOW PRECISION — too much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40280"/>
            <a:ext cx="47548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Lower top-k: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retrieve fewer, better results (top-k 20 → 5)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Metadata filters: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source = employee_handbook, category = benefits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Clean the query: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“tell me about leave days and also…” → “annual leave days policy”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Similarity threshold: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keep only results with score &gt; 0.5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Hybrid search: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vector + keyword → deduplicate and 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12064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120640" cy="4572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LOW RECALL — evidence missing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470916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Increase top-k: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3 → 20 to widen the net — but watch precision doesn’t drop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Better chunking: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from 2000 tokens / 0 overlap → chunk size 400, overlap 50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Query expansion: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“leave policy” → + “vacation days”, “time off”, “PTO”, “annual leave”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Multi-hop retrieval: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search in steps (benefits → insurance → mental health), merge with ranking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B2A4A"/>
                </a:solidFill>
                <a:latin typeface="Calibri"/>
              </a:rPr>
              <a:t>Index more content: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recall is limited by what you have — add documents/sections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6217920"/>
            <a:ext cx="10561320" cy="45720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626364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D97706"/>
                </a:solidFill>
                <a:latin typeface="Calibri"/>
              </a:rPr>
              <a:t>Trade-off alert: 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raising top-k can lift recall while hurting precision — measure both, change one thing at a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Example improvement journey — one change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RAG Evaluation Project · Week 8 Day 1</a:t>
            </a:r>
          </a:p>
        </p:txBody>
      </p:sp>
      <p:pic>
        <p:nvPicPr>
          <p:cNvPr id="7" name="Picture 6" descr="improvement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400800" cy="337196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69480" y="1600200"/>
          <a:ext cx="4114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600200"/>
                <a:gridCol w="16459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anchor="ctr" marL="73152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 marL="73152" marR="54864" marT="18288" marB="18288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2A4A"/>
                          </a:solidFill>
                          <a:latin typeface="Calibri"/>
                        </a:rPr>
                        <a:t>Initial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Faithfulness 0.60 · Precision 0.75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2A4A"/>
                          </a:solidFill>
                          <a:latin typeface="Calibri"/>
                        </a:rPr>
                        <a:t>Change 1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Add prompt constraint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Faithfulness → 0.72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2A4A"/>
                          </a:solidFill>
                          <a:latin typeface="Calibri"/>
                        </a:rPr>
                        <a:t>Change 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top-k 10 → 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Precision → 0.85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2A4A"/>
                          </a:solidFill>
                          <a:latin typeface="Calibri"/>
                        </a:rPr>
                        <a:t>Change 3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Chunk size 1000 → 500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Precision 0.88 · Faithfulness 0.75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B2A4A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Faithfulness 0.75 · Precision 0.88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69480" y="452628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4-phase workflow:  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475569"/>
                </a:solidFill>
                <a:latin typeface="Calibri"/>
              </a:rPr>
              <a:t>1 Diagnosis → 2 Targeted fix (ONE change) → 3 Measure &amp; iterate → 4 Balance &amp; optimize</a:t>
            </a:r>
          </a:p>
          <a:p>
            <a:pPr algn="l">
              <a:spcBef>
                <a:spcPts val="800"/>
              </a:spcBef>
            </a:pPr>
            <a:r>
              <a:rPr sz="1150" b="1" i="0">
                <a:solidFill>
                  <a:srgbClr val="DC2626"/>
                </a:solidFill>
                <a:latin typeface="Calibri"/>
              </a:rPr>
              <a:t>Escalate if no gain after 2–3 changes: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data quality · dataset too small (6 examples) · stronger LLM · rethink architecture.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Manual evaluation vs RAGAS automated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RAG Evaluation Project · Week 8 Day 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91640"/>
          <a:ext cx="105613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852160"/>
                <a:gridCol w="260604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anchor="ctr" marL="73152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Strengths</a:t>
                      </a:r>
                    </a:p>
                  </a:txBody>
                  <a:tcPr anchor="ctr" marL="73152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Watch out</a:t>
                      </a:r>
                    </a:p>
                  </a:txBody>
                  <a:tcPr anchor="ctr" marL="73152" marR="54864" marT="18288" marB="18288">
                    <a:solidFill>
                      <a:srgbClr val="1B2A4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Manual
(this project)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Calibri"/>
                        </a:rPr>
                        <a:t>✓ Easy to understand for beginners  ·  ✓ Best for small classroom tests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Calibri"/>
                        </a:rPr>
                        <a:t>⚠ Human judgment can vary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RAGAS
automated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Calibri"/>
                        </a:rPr>
                        <a:t>✓ Faster for many examples  ·  ✓ Useful for repeated experiments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Calibri"/>
                        </a:rPr>
                        <a:t>⚠ Scores still need human review</a:t>
                      </a:r>
                    </a:p>
                  </a:txBody>
                  <a:tcPr anchor="ctr" marL="73152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3703320"/>
            <a:ext cx="10561320" cy="685800"/>
          </a:xfrm>
          <a:prstGeom prst="roundRect">
            <a:avLst>
              <a:gd name="adj" fmla="val 8000"/>
            </a:avLst>
          </a:prstGeom>
          <a:solidFill>
            <a:srgbClr val="DC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84048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Calibri"/>
              </a:rPr>
              <a:t>Recommended workflow:  </a:t>
            </a:r>
            <a:r>
              <a:rPr sz="1400" b="0" i="0">
                <a:solidFill>
                  <a:srgbClr val="1B2A4A"/>
                </a:solidFill>
                <a:latin typeface="Calibri"/>
              </a:rPr>
              <a:t>start with manual evaluation to understand the concepts → then use RAGAS for repeated experiments.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617720"/>
            <a:ext cx="6126480" cy="1600200"/>
          </a:xfrm>
          <a:prstGeom prst="roundRect">
            <a:avLst>
              <a:gd name="adj" fmla="val 8000"/>
            </a:avLst>
          </a:prstGeom>
          <a:solidFill>
            <a:srgbClr val="0F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690872"/>
            <a:ext cx="5852160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D7E4F5"/>
                </a:solidFill>
                <a:latin typeface="Consolas"/>
              </a:rPr>
              <a:t>pip install ragas</a:t>
            </a:r>
          </a:p>
          <a:p>
            <a:r>
              <a:rPr sz="1050">
                <a:solidFill>
                  <a:srgbClr val="D7E4F5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D7E4F5"/>
                </a:solidFill>
                <a:latin typeface="Consolas"/>
              </a:rPr>
              <a:t>from ragas import evaluate</a:t>
            </a:r>
          </a:p>
          <a:p>
            <a:r>
              <a:rPr sz="1050">
                <a:solidFill>
                  <a:srgbClr val="D7E4F5"/>
                </a:solidFill>
                <a:latin typeface="Consolas"/>
              </a:rPr>
              <a:t>from ragas.metrics import faithfulness,</a:t>
            </a:r>
          </a:p>
          <a:p>
            <a:r>
              <a:rPr sz="1050">
                <a:solidFill>
                  <a:srgbClr val="D7E4F5"/>
                </a:solidFill>
                <a:latin typeface="Consolas"/>
              </a:rPr>
              <a:t>    answer_relevancy, context_precision,</a:t>
            </a:r>
          </a:p>
          <a:p>
            <a:r>
              <a:rPr sz="1050">
                <a:solidFill>
                  <a:srgbClr val="D7E4F5"/>
                </a:solidFill>
                <a:latin typeface="Consolas"/>
              </a:rPr>
              <a:t>    context_recall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663440"/>
            <a:ext cx="4206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RAGAS metrics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475569"/>
                </a:solidFill>
                <a:latin typeface="Calibri"/>
              </a:rPr>
              <a:t>faithfulness · answer_relevancy · context_precision · context_recall — the four standard scores, with human review still in the loop.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E7C7B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Key takeaways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RAG Evaluation Project · Week 8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2120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You can now: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Create a small evaluation dataset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Run manual quality checks on RAG outputs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Read and interpret evaluation scores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Identify which component needs improvement — retriever vs LLM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Write an improvement report with actionable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1206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Next steps: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Try different retriever settings (top-k, filters) and re-evaluate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Modify the LLM prompt and compare faithfulness scores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Build a RAGAS-based evaluation pipeline for automation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Create a more complex dataset from your own domain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72000"/>
            <a:ext cx="10561320" cy="960120"/>
          </a:xfrm>
          <a:prstGeom prst="roundRect">
            <a:avLst>
              <a:gd name="adj" fmla="val 8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681728"/>
            <a:ext cx="10149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Avoid: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changing multiple things at once · using different datasets for re-evaluation · ignoring trade-offs · premature automation · unrealistic targets (0.95+ scores are rare in production).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669280"/>
            <a:ext cx="1056132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779008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References:  </a:t>
            </a:r>
            <a:r>
              <a:rPr sz="1150" b="0" i="0">
                <a:solidFill>
                  <a:srgbClr val="475569"/>
                </a:solidFill>
                <a:latin typeface="Calibri"/>
              </a:rPr>
              <a:t>RAGAS Paper — arxiv.org/abs/2309.15217   ·   RAGAS GitHub — github.com/explodinggradients/ragas   ·   Anthropic LLM Evaluation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