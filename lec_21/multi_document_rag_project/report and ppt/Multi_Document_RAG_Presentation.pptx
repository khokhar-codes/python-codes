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3F90CA83-386D-4E2B-B4C0-587F83833BD8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9/16/26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424845BF-9BE6-4620-A9D9-74A61C166638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1097280" y="2011680"/>
            <a:ext cx="10058040" cy="210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2001"/>
              </a:spcAft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Multi-Document RAG System</a:t>
            </a:r>
            <a:endParaRPr b="0" lang="en-US" sz="4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0"/>
              </a:spcAft>
            </a:pPr>
            <a:r>
              <a:rPr b="0" lang="en-US" sz="2200" spc="-1" strike="noStrike">
                <a:solidFill>
                  <a:srgbClr val="94a3b8"/>
                </a:solidFill>
                <a:latin typeface="Calibri"/>
              </a:rPr>
              <a:t>Automated Text Chunking, Vector Indexing &amp; RAGAS Framework Evaluation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Presenter: Usama Rasheed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/>
          <p:cNvSpPr/>
          <p:nvPr/>
        </p:nvSpPr>
        <p:spPr>
          <a:xfrm>
            <a:off x="4339440" y="731520"/>
            <a:ext cx="3481920" cy="577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Calibri"/>
              </a:rPr>
              <a:t>Executive Summary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43" name="CustomShape 2"/>
          <p:cNvSpPr/>
          <p:nvPr/>
        </p:nvSpPr>
        <p:spPr>
          <a:xfrm>
            <a:off x="914400" y="1828800"/>
            <a:ext cx="10332360" cy="261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599"/>
              </a:spcAft>
            </a:pPr>
            <a:r>
              <a:rPr b="0" lang="en-US" sz="1800" spc="-1" strike="noStrike">
                <a:solidFill>
                  <a:srgbClr val="334155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334155"/>
                </a:solidFill>
                <a:latin typeface="Calibri"/>
              </a:rPr>
              <a:t>Enterprise-grade Multi-Document Retrieval-Augmented Generation (RAG) architecture developed in September 2026.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599"/>
              </a:spcAft>
            </a:pPr>
            <a:r>
              <a:rPr b="0" lang="en-US" sz="1800" spc="-1" strike="noStrike">
                <a:solidFill>
                  <a:srgbClr val="334155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334155"/>
                </a:solidFill>
                <a:latin typeface="Calibri"/>
              </a:rPr>
              <a:t>Engineered for high-precision knowledge retrieval across diverse unstructured document formats.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599"/>
              </a:spcAft>
            </a:pPr>
            <a:r>
              <a:rPr b="0" lang="en-US" sz="1800" spc="-1" strike="noStrike">
                <a:solidFill>
                  <a:srgbClr val="334155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334155"/>
                </a:solidFill>
                <a:latin typeface="Calibri"/>
              </a:rPr>
              <a:t>Integrated automated text chunking, persistent vector indexing, and rigorous RAGAS (Retrieval Augmented Generation Assessment) evaluation.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599"/>
              </a:spcAft>
            </a:pPr>
            <a:r>
              <a:rPr b="0" lang="en-US" sz="1800" spc="-1" strike="noStrike">
                <a:solidFill>
                  <a:srgbClr val="334155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334155"/>
                </a:solidFill>
                <a:latin typeface="Calibri"/>
              </a:rPr>
              <a:t>Optimized for low-latency semantic search and faithful context generation.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3380760" y="731520"/>
            <a:ext cx="5399280" cy="577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Calibri"/>
              </a:rPr>
              <a:t>System Architecture &amp; Pipeline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45" name="CustomShape 2"/>
          <p:cNvSpPr/>
          <p:nvPr/>
        </p:nvSpPr>
        <p:spPr>
          <a:xfrm>
            <a:off x="2103120" y="1737360"/>
            <a:ext cx="10332360" cy="2292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00"/>
              </a:spcAft>
            </a:pPr>
            <a:r>
              <a:rPr b="0" lang="en-US" sz="1600" spc="-1" strike="noStrike">
                <a:solidFill>
                  <a:srgbClr val="334155"/>
                </a:solidFill>
                <a:latin typeface="Calibri"/>
              </a:rPr>
              <a:t>1. Document Ingestion &amp; Parsing: Automated extraction of multi-format documents (PDF, TXT, JSON).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00"/>
              </a:spcAft>
            </a:pPr>
            <a:r>
              <a:rPr b="0" lang="en-US" sz="1600" spc="-1" strike="noStrike">
                <a:solidFill>
                  <a:srgbClr val="334155"/>
                </a:solidFill>
                <a:latin typeface="Calibri"/>
              </a:rPr>
              <a:t>2. Semantic Chunking: Intelligent segmentation preserving context boundaries and overlapping windows.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00"/>
              </a:spcAft>
            </a:pPr>
            <a:r>
              <a:rPr b="0" lang="en-US" sz="1600" spc="-1" strike="noStrike">
                <a:solidFill>
                  <a:srgbClr val="334155"/>
                </a:solidFill>
                <a:latin typeface="Calibri"/>
              </a:rPr>
              <a:t>3. Embedding Generation: Sentence-transformers embedding model (e.g., all-MiniLM-L6-v2) for vector encoding.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00"/>
              </a:spcAft>
            </a:pPr>
            <a:r>
              <a:rPr b="0" lang="en-US" sz="1600" spc="-1" strike="noStrike">
                <a:solidFill>
                  <a:srgbClr val="334155"/>
                </a:solidFill>
                <a:latin typeface="Calibri"/>
              </a:rPr>
              <a:t>4. Vector Database Indexing: Persistent vector store using ChromaDB for sub-millisecond similarity lookup.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00"/>
              </a:spcAft>
            </a:pPr>
            <a:r>
              <a:rPr b="0" lang="en-US" sz="1600" spc="-1" strike="noStrike">
                <a:solidFill>
                  <a:srgbClr val="334155"/>
                </a:solidFill>
                <a:latin typeface="Calibri"/>
              </a:rPr>
              <a:t>5. Retrieval &amp; Generation: Context assembly coupled with LLM synthesis to generate grounded responses.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stomShape 1"/>
          <p:cNvSpPr/>
          <p:nvPr/>
        </p:nvSpPr>
        <p:spPr>
          <a:xfrm>
            <a:off x="3472920" y="731520"/>
            <a:ext cx="5214960" cy="577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Calibri"/>
              </a:rPr>
              <a:t>RAGAS Evaluation Framework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47" name="CustomShape 2"/>
          <p:cNvSpPr/>
          <p:nvPr/>
        </p:nvSpPr>
        <p:spPr>
          <a:xfrm>
            <a:off x="914400" y="1828800"/>
            <a:ext cx="10332360" cy="235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00"/>
              </a:spcAft>
            </a:pPr>
            <a:r>
              <a:rPr b="0" lang="en-US" sz="1600" spc="-1" strike="noStrike">
                <a:solidFill>
                  <a:srgbClr val="334155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334155"/>
                </a:solidFill>
                <a:latin typeface="Calibri"/>
              </a:rPr>
              <a:t>Faithfulness: Measures whether the generated answer is strictly grounded in the retrieved context, eliminating hallucination risks.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00"/>
              </a:spcAft>
            </a:pPr>
            <a:r>
              <a:rPr b="0" lang="en-US" sz="1600" spc="-1" strike="noStrike">
                <a:solidFill>
                  <a:srgbClr val="334155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334155"/>
                </a:solidFill>
                <a:latin typeface="Calibri"/>
              </a:rPr>
              <a:t>Answer Relevance: Evaluates how directly the generated response addresses the user query.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00"/>
              </a:spcAft>
            </a:pPr>
            <a:r>
              <a:rPr b="0" lang="en-US" sz="1600" spc="-1" strike="noStrike">
                <a:solidFill>
                  <a:srgbClr val="334155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334155"/>
                </a:solidFill>
                <a:latin typeface="Calibri"/>
              </a:rPr>
              <a:t>Context Precision: Assesses whether the most relevant chunks are ranked at the top of the retrieval results.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00"/>
              </a:spcAft>
            </a:pPr>
            <a:r>
              <a:rPr b="0" lang="en-US" sz="1600" spc="-1" strike="noStrike">
                <a:solidFill>
                  <a:srgbClr val="334155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334155"/>
                </a:solidFill>
                <a:latin typeface="Calibri"/>
              </a:rPr>
              <a:t>Context Recall: Measures the system's ability to retrieve all necessary information required to answer the query comprehensively.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ustomShape 1"/>
          <p:cNvSpPr/>
          <p:nvPr/>
        </p:nvSpPr>
        <p:spPr>
          <a:xfrm>
            <a:off x="914400" y="1371600"/>
            <a:ext cx="10332360" cy="2248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2999"/>
              </a:spcAft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Conclusion &amp; Future Enhancements</a:t>
            </a:r>
            <a:endParaRPr b="0" lang="en-US" sz="3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599"/>
              </a:spcAft>
            </a:pPr>
            <a:r>
              <a:rPr b="0" lang="en-US" sz="1800" spc="-1" strike="noStrike">
                <a:solidFill>
                  <a:srgbClr val="e2e8f0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e2e8f0"/>
                </a:solidFill>
                <a:latin typeface="Calibri"/>
              </a:rPr>
              <a:t>Successfully demonstrated robust multi-document retrieval with verifiable RAGAS metrics.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599"/>
              </a:spcAft>
            </a:pPr>
            <a:r>
              <a:rPr b="0" lang="en-US" sz="1800" spc="-1" strike="noStrike">
                <a:solidFill>
                  <a:srgbClr val="e2e8f0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e2e8f0"/>
                </a:solidFill>
                <a:latin typeface="Calibri"/>
              </a:rPr>
              <a:t>Scalable architecture ready for deployment in enterprise knowledge management systems.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599"/>
              </a:spcAft>
            </a:pPr>
            <a:r>
              <a:rPr b="0" lang="en-US" sz="1800" spc="-1" strike="noStrike">
                <a:solidFill>
                  <a:srgbClr val="e2e8f0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e2e8f0"/>
                </a:solidFill>
                <a:latin typeface="Calibri"/>
              </a:rPr>
              <a:t>Future Scope: Integration of hybrid search (BM25 + Dense Vectors) and advanced reranking models.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Trio_Office/6.2.8.2$Windows_x86 LibreOffice_project/</Applicat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2026-09-16T07:42:32Z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0</vt:i4>
  </property>
</Properties>
</file>